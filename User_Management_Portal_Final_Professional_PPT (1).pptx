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wsusermanagement.netlify.app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wsusermanagement.netlify.app/" TargetMode="Externa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wsusermanagement.netlify.app/" TargetMode="Externa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594360"/>
            <a:ext cx="2011680" cy="201168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389120"/>
            <a:ext cx="1280160" cy="1280160"/>
          </a:xfrm>
          <a:prstGeom prst="ellipse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521208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566928"/>
            <a:ext cx="2286000" cy="310896"/>
          </a:xfrm>
          <a:prstGeom prst="roundRect">
            <a:avLst/>
          </a:prstGeom>
          <a:solidFill>
            <a:srgbClr val="1E3152"/>
          </a:solidFill>
          <a:ln>
            <a:solidFill>
              <a:srgbClr val="1E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  <a:latin typeface="Aptos"/>
              </a:defRPr>
            </a:pPr>
            <a:r>
              <a:t>AWS • SERVERLESS •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874519"/>
            <a:ext cx="81381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USER MANAGEMENT</a:t>
            </a:r>
            <a:br/>
            <a:r>
              <a:t>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61188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  <a:latin typeface="Aptos"/>
              </a:defRPr>
            </a:pPr>
            <a:r>
              <a:t>Secure cloud-based registration, authentication, profiles &amp; access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681728"/>
            <a:ext cx="1234440" cy="310896"/>
          </a:xfrm>
          <a:prstGeom prst="roundRect">
            <a:avLst/>
          </a:prstGeom>
          <a:solidFill>
            <a:srgbClr val="1F473D"/>
          </a:solidFill>
          <a:ln>
            <a:solidFill>
              <a:srgbClr val="1F4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86EFAC"/>
                </a:solidFill>
                <a:latin typeface="Aptos"/>
              </a:defRPr>
            </a:pPr>
            <a: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16636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Aptos"/>
              </a:defRPr>
            </a:pPr>
            <a:r>
              <a:rPr>
                <a:hlinkClick r:id="rId2"/>
              </a:rPr>
              <a:t>awsusermanagement.netlify.app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CLIENT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03A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From problem definition to live cloud deployment.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0" y="658368"/>
            <a:ext cx="310896" cy="310896"/>
          </a:xfrm>
          <a:prstGeom prst="ellipse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764792"/>
            <a:ext cx="4663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1764792"/>
            <a:ext cx="64008" cy="59436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1911095"/>
            <a:ext cx="4297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1783080"/>
            <a:ext cx="502920" cy="50292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764792"/>
            <a:ext cx="4663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03720" y="1764792"/>
            <a:ext cx="64008" cy="59436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1911095"/>
            <a:ext cx="4297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Problem &amp; objectives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2807208"/>
            <a:ext cx="502920" cy="502920"/>
          </a:xfrm>
          <a:prstGeom prst="ellipse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2788920"/>
            <a:ext cx="4663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2788920"/>
            <a:ext cx="64008" cy="59436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72768" y="2935224"/>
            <a:ext cx="4297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Architecture &amp; system flow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2807208"/>
            <a:ext cx="502920" cy="50292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2788920"/>
            <a:ext cx="4663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03720" y="2788920"/>
            <a:ext cx="64008" cy="59436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4888" y="2935224"/>
            <a:ext cx="4297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Modules &amp; security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3831336"/>
            <a:ext cx="502920" cy="502920"/>
          </a:xfrm>
          <a:prstGeom prst="ellipse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3813048"/>
            <a:ext cx="4663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71600" y="3813048"/>
            <a:ext cx="64008" cy="59436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72768" y="3959352"/>
            <a:ext cx="4297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AWS services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0" y="3831336"/>
            <a:ext cx="502920" cy="50292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03720" y="3813048"/>
            <a:ext cx="4663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03720" y="3813048"/>
            <a:ext cx="64008" cy="59436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04888" y="3959352"/>
            <a:ext cx="4297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Live output &amp; deployment</a:t>
            </a:r>
          </a:p>
        </p:txBody>
      </p:sp>
      <p:sp>
        <p:nvSpPr>
          <p:cNvPr id="32" name="Oval 31"/>
          <p:cNvSpPr/>
          <p:nvPr/>
        </p:nvSpPr>
        <p:spPr>
          <a:xfrm>
            <a:off x="685800" y="4855464"/>
            <a:ext cx="502920" cy="502920"/>
          </a:xfrm>
          <a:prstGeom prst="ellipse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4837176"/>
            <a:ext cx="4663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71600" y="4837176"/>
            <a:ext cx="64008" cy="59436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2768" y="4983480"/>
            <a:ext cx="4297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Outcomes &amp; future scope</a:t>
            </a:r>
          </a:p>
        </p:txBody>
      </p:sp>
      <p:sp>
        <p:nvSpPr>
          <p:cNvPr id="36" name="Oval 35"/>
          <p:cNvSpPr/>
          <p:nvPr/>
        </p:nvSpPr>
        <p:spPr>
          <a:xfrm>
            <a:off x="6217920" y="4855464"/>
            <a:ext cx="502920" cy="502920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03720" y="4837176"/>
            <a:ext cx="46634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03720" y="4837176"/>
            <a:ext cx="64008" cy="59436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04888" y="4983480"/>
            <a:ext cx="4297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Conclusion &amp; references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PROJECT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03A"/>
                </a:solidFill>
                <a:latin typeface="Aptos Display"/>
              </a:defRPr>
            </a:pPr>
            <a:r>
              <a:t>Project Certificate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Course / project review artifact.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0" y="65836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64008" cy="3017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10332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0203A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94560"/>
            <a:ext cx="10314432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ptos"/>
              </a:defRPr>
            </a:pPr>
            <a:r>
              <a:t>A cloud-based application for registration, authentication, profiles and access control.</a:t>
            </a:r>
            <a:br/>
            <a:br/>
            <a:r>
              <a:t>Final implementation uses Amazon Cognito, API Gateway, AWS Lambda, DynamoDB, IAM and CloudWatch, with the React frontend published on Netlify.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983480"/>
            <a:ext cx="1508760" cy="310896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9E0B"/>
                </a:solidFill>
                <a:latin typeface="Aptos"/>
              </a:defRPr>
            </a:pPr>
            <a:r>
              <a:t>PROJECT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4983480"/>
            <a:ext cx="169164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63EB"/>
                </a:solidFill>
                <a:latin typeface="Aptos"/>
              </a:defRPr>
            </a:pPr>
            <a:r>
              <a:t>CLOUD COMPUTING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983480"/>
            <a:ext cx="685800" cy="310896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9E0B"/>
                </a:solidFill>
                <a:latin typeface="Aptos"/>
              </a:defRPr>
            </a:pPr>
            <a:r>
              <a:t>AWS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03A"/>
                </a:solidFill>
                <a:latin typeface="Aptos Display"/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A concise view of what the solution delivers.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0" y="658368"/>
            <a:ext cx="310896" cy="310896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6812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64008" cy="356616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92224"/>
            <a:ext cx="6446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203A"/>
                </a:solidFill>
                <a:latin typeface="Aptos"/>
              </a:defRPr>
            </a:pPr>
            <a:r>
              <a:t>SOLUTION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94560"/>
            <a:ext cx="6428232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The User Management Portal is a cloud-based application for managing user registration, authentication, profiles and access control.</a:t>
            </a:r>
            <a:br/>
            <a:br/>
            <a:r>
              <a:t>Amazon Cognito provides authentication and group-based authorization. The serverless backend exposes protected user-management APIs through API Gateway and Lambda, with DynamoDB storing application profile data.</a:t>
            </a:r>
            <a:br/>
            <a:br/>
            <a:r>
              <a:t>The finished portal supports both normal users and administrators and is publicly accessible through Netlify.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645920"/>
            <a:ext cx="3611880" cy="1051560"/>
          </a:xfrm>
          <a:prstGeom prst="round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645920"/>
            <a:ext cx="64008" cy="105156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179222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203A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2194560"/>
            <a:ext cx="3227832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Cognito • email verification • password recovery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880360"/>
            <a:ext cx="3611880" cy="105156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2880360"/>
            <a:ext cx="64008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9288" y="302666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203A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3429000"/>
            <a:ext cx="3227832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ADMIN / USER groups • JWT-protected APIs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114800"/>
            <a:ext cx="361188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4114800"/>
            <a:ext cx="6400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9288" y="4261104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203A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4663440"/>
            <a:ext cx="3227832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Profiles • user administration • monitoring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03A"/>
                </a:solidFill>
                <a:latin typeface="Aptos Display"/>
              </a:defRPr>
            </a:pPr>
            <a:r>
              <a:t>Introduction /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Why a centralized cloud user-management solution is useful.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0" y="658368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64008" cy="3611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465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03A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148840"/>
            <a:ext cx="3044952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Manual account administration becomes difficult as the number of users increases.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00200"/>
            <a:ext cx="64008" cy="3611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7465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03A"/>
                </a:solidFill>
                <a:latin typeface="Aptos"/>
              </a:defRPr>
            </a:pPr>
            <a:r>
              <a:t>SECURITY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48840"/>
            <a:ext cx="3044952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Authentication, authorization and account status need consistent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600200"/>
            <a:ext cx="64008" cy="361188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746504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03A"/>
                </a:solidFill>
                <a:latin typeface="Aptos"/>
              </a:defRPr>
            </a:pPr>
            <a:r>
              <a:t>SCALABILITY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48840"/>
            <a:ext cx="3044952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A centralized cloud platform reduces operational overhead and supports growth.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5440680"/>
            <a:ext cx="1325880" cy="310896"/>
          </a:xfrm>
          <a:prstGeom prst="roundRect">
            <a:avLst/>
          </a:prstGeom>
          <a:solidFill>
            <a:srgbClr val="FEF2F2"/>
          </a:solidFill>
          <a:ln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C2626"/>
                </a:solidFill>
                <a:latin typeface="Aptos"/>
              </a:defRPr>
            </a:pPr>
            <a:r>
              <a:t>CENTRALIZED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5440680"/>
            <a:ext cx="1097280" cy="310896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9E0B"/>
                </a:solidFill>
                <a:latin typeface="Aptos"/>
              </a:defRPr>
            </a:pPr>
            <a:r>
              <a:t>SECURE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5440680"/>
            <a:ext cx="123444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63EB"/>
                </a:solidFill>
                <a:latin typeface="Aptos"/>
              </a:defRPr>
            </a:pPr>
            <a:r>
              <a:t>SCALABLE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03A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What the implementation is designed to achieve.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0" y="658368"/>
            <a:ext cx="310896" cy="310896"/>
          </a:xfrm>
          <a:prstGeom prst="ellipse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1572768"/>
            <a:ext cx="475488" cy="475488"/>
          </a:xfrm>
          <a:prstGeom prst="ellipse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89888" y="1536192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89888" y="1536192"/>
            <a:ext cx="64008" cy="658368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91056" y="1682495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Secure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2084831"/>
            <a:ext cx="95829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64748B"/>
                </a:solidFill>
                <a:latin typeface="Aptos"/>
              </a:defRPr>
            </a:pPr>
            <a:r>
              <a:t>Registration, email verification, login, logout and password recovery.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2404872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89888" y="2368296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89888" y="2368296"/>
            <a:ext cx="64008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91056" y="25146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Role separation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1056" y="2916936"/>
            <a:ext cx="95829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64748B"/>
                </a:solidFill>
                <a:latin typeface="Aptos"/>
              </a:defRPr>
            </a:pPr>
            <a:r>
              <a:t>Distinct ADMIN and USER permissions enforced by the backend.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3236976"/>
            <a:ext cx="475488" cy="475488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89888" y="3200400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" y="3200400"/>
            <a:ext cx="64008" cy="658368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91056" y="3346704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Cloud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3749039"/>
            <a:ext cx="95829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64748B"/>
                </a:solidFill>
                <a:latin typeface="Aptos"/>
              </a:defRPr>
            </a:pPr>
            <a:r>
              <a:t>Store profile information in DynamoDB and identity data in Cognito.</a:t>
            </a:r>
          </a:p>
        </p:txBody>
      </p:sp>
      <p:sp>
        <p:nvSpPr>
          <p:cNvPr id="23" name="Oval 22"/>
          <p:cNvSpPr/>
          <p:nvPr/>
        </p:nvSpPr>
        <p:spPr>
          <a:xfrm>
            <a:off x="749808" y="40690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89888" y="4032504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89888" y="4032504"/>
            <a:ext cx="6400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91056" y="417880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Administration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91056" y="4581144"/>
            <a:ext cx="95829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64748B"/>
                </a:solidFill>
                <a:latin typeface="Aptos"/>
              </a:defRPr>
            </a:pPr>
            <a:r>
              <a:t>Provide a dashboard for creating and managing user accounts.</a:t>
            </a:r>
          </a:p>
        </p:txBody>
      </p:sp>
      <p:sp>
        <p:nvSpPr>
          <p:cNvPr id="28" name="Oval 27"/>
          <p:cNvSpPr/>
          <p:nvPr/>
        </p:nvSpPr>
        <p:spPr>
          <a:xfrm>
            <a:off x="749808" y="4901184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89888" y="4864608"/>
            <a:ext cx="99669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89888" y="4864608"/>
            <a:ext cx="64008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91056" y="501091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Scalable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91056" y="5413248"/>
            <a:ext cx="95829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64748B"/>
                </a:solidFill>
                <a:latin typeface="Aptos"/>
              </a:defRPr>
            </a:pPr>
            <a:r>
              <a:t>Use managed/serverless AWS services to reduce infrastructure overhead.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03A"/>
                </a:solidFill>
                <a:latin typeface="Aptos Display"/>
              </a:defRPr>
            </a:pPr>
            <a:r>
              <a:t>System Architecture / Ideation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Current deployed architecture — aligned with the final implementation.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0" y="658368"/>
            <a:ext cx="310896" cy="310896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141732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03A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331720"/>
            <a:ext cx="160020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03A"/>
                </a:solidFill>
                <a:latin typeface="Aptos"/>
              </a:defRPr>
            </a:pPr>
            <a:r>
              <a:t>REACT</a:t>
            </a:r>
            <a:br/>
            <a:r>
              <a:t>NETLIFY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331720"/>
            <a:ext cx="15087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03A"/>
                </a:solidFill>
                <a:latin typeface="Aptos"/>
              </a:defRPr>
            </a:pPr>
            <a:r>
              <a:t>COGNITO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2331720"/>
            <a:ext cx="164592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03A"/>
                </a:solidFill>
                <a:latin typeface="Aptos"/>
              </a:defRPr>
            </a:pPr>
            <a:r>
              <a:t>API GATEWAY</a:t>
            </a:r>
            <a:br/>
            <a:r>
              <a:t>JWT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331720"/>
            <a:ext cx="141732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03A"/>
                </a:solidFill>
                <a:latin typeface="Aptos"/>
              </a:defRPr>
            </a:pPr>
            <a:r>
              <a:t>LAMBDA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2331720"/>
            <a:ext cx="160020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203A"/>
                </a:solidFill>
                <a:latin typeface="Aptos"/>
              </a:defRPr>
            </a:pPr>
            <a:r>
              <a:t>DYNAMODB</a:t>
            </a:r>
          </a:p>
        </p:txBody>
      </p:sp>
      <p:sp>
        <p:nvSpPr>
          <p:cNvPr id="14" name="Chevron 13"/>
          <p:cNvSpPr/>
          <p:nvPr/>
        </p:nvSpPr>
        <p:spPr>
          <a:xfrm>
            <a:off x="2011680" y="2542032"/>
            <a:ext cx="320040" cy="310896"/>
          </a:xfrm>
          <a:prstGeom prst="chevron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3931920" y="2542032"/>
            <a:ext cx="320040" cy="310896"/>
          </a:xfrm>
          <a:prstGeom prst="chevron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5760720" y="2542032"/>
            <a:ext cx="320040" cy="310896"/>
          </a:xfrm>
          <a:prstGeom prst="chevron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7726679" y="2542032"/>
            <a:ext cx="320040" cy="310896"/>
          </a:xfrm>
          <a:prstGeom prst="chevron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9464040" y="2542032"/>
            <a:ext cx="320040" cy="310896"/>
          </a:xfrm>
          <a:prstGeom prst="chevron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703320"/>
            <a:ext cx="3246120" cy="114300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703320"/>
            <a:ext cx="64008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384962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IAM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251959"/>
            <a:ext cx="28620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Least-privilege execution roles for Lambda and AWS resources.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703320"/>
            <a:ext cx="3246120" cy="1143000"/>
          </a:xfrm>
          <a:prstGeom prst="roundRect">
            <a:avLst/>
          </a:prstGeom>
          <a:solidFill>
            <a:srgbClr val="FFF7ED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703320"/>
            <a:ext cx="6400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384962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CLOUDWATCH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4251959"/>
            <a:ext cx="28620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Logs and operational visibility for backend functions.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703320"/>
            <a:ext cx="3246120" cy="1143000"/>
          </a:xfrm>
          <a:prstGeom prst="round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703320"/>
            <a:ext cx="64008" cy="114300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384962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RBAC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4251959"/>
            <a:ext cx="28620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ptos"/>
              </a:defRPr>
            </a:pPr>
            <a:r>
              <a:t>Cognito groups + API JWT authorizer + Lambda admin checks.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1444752"/>
            <a:ext cx="173736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63EB"/>
                </a:solidFill>
                <a:latin typeface="Aptos"/>
              </a:defRPr>
            </a:pPr>
            <a:r>
              <a:t>LIVE ARCHITECTURE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PROJECT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03A"/>
                </a:solidFill>
                <a:latin typeface="Aptos Display"/>
              </a:defRPr>
            </a:pPr>
            <a:r>
              <a:t>Proposed System → Implemented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End-to-end request and access-control journey.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0" y="65836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64592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4168" y="1618488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4168" y="1618488"/>
            <a:ext cx="6400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45336" y="17647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167128"/>
            <a:ext cx="245059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Cognito creates identity</a:t>
            </a:r>
          </a:p>
        </p:txBody>
      </p:sp>
      <p:sp>
        <p:nvSpPr>
          <p:cNvPr id="13" name="Oval 12"/>
          <p:cNvSpPr/>
          <p:nvPr/>
        </p:nvSpPr>
        <p:spPr>
          <a:xfrm>
            <a:off x="4434840" y="164592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7" y="1618488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93207" y="1618488"/>
            <a:ext cx="6400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4375" y="17647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5" y="2167128"/>
            <a:ext cx="245059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Email verification completes account</a:t>
            </a:r>
          </a:p>
        </p:txBody>
      </p:sp>
      <p:sp>
        <p:nvSpPr>
          <p:cNvPr id="18" name="Oval 17"/>
          <p:cNvSpPr/>
          <p:nvPr/>
        </p:nvSpPr>
        <p:spPr>
          <a:xfrm>
            <a:off x="8183879" y="1645920"/>
            <a:ext cx="512064" cy="51206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42248" y="1618488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42248" y="1618488"/>
            <a:ext cx="6400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3416" y="17647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167128"/>
            <a:ext cx="245059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Cognito returns authenticated session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3474720"/>
            <a:ext cx="512064" cy="512064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44168" y="3447288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44168" y="3447288"/>
            <a:ext cx="64008" cy="1143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45336" y="35935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Call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45336" y="3995928"/>
            <a:ext cx="245059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JWT token reaches API Gateway</a:t>
            </a:r>
          </a:p>
        </p:txBody>
      </p:sp>
      <p:sp>
        <p:nvSpPr>
          <p:cNvPr id="28" name="Oval 27"/>
          <p:cNvSpPr/>
          <p:nvPr/>
        </p:nvSpPr>
        <p:spPr>
          <a:xfrm>
            <a:off x="4434840" y="3474720"/>
            <a:ext cx="512064" cy="512064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93207" y="3447288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93207" y="3447288"/>
            <a:ext cx="64008" cy="1143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94375" y="35935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Authorize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94375" y="3995928"/>
            <a:ext cx="245059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ADMIN / USER group is checked</a:t>
            </a:r>
          </a:p>
        </p:txBody>
      </p:sp>
      <p:sp>
        <p:nvSpPr>
          <p:cNvPr id="33" name="Oval 32"/>
          <p:cNvSpPr/>
          <p:nvPr/>
        </p:nvSpPr>
        <p:spPr>
          <a:xfrm>
            <a:off x="8183879" y="3474720"/>
            <a:ext cx="512064" cy="512064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42248" y="3447288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42248" y="3447288"/>
            <a:ext cx="64008" cy="1143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43416" y="35935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Manage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43416" y="3995928"/>
            <a:ext cx="245059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ptos"/>
              </a:defRPr>
            </a:pPr>
            <a:r>
              <a:t>Lambda reads/writes DynamoDB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03A"/>
                </a:solidFill>
                <a:latin typeface="Aptos Display"/>
              </a:defRPr>
            </a:pPr>
            <a:r>
              <a:t>Module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Core application modules delivered in the final build.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0" y="65836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600200"/>
            <a:ext cx="493776" cy="493776"/>
          </a:xfrm>
          <a:prstGeom prst="ellipse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4168" y="1572768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4168" y="1572768"/>
            <a:ext cx="64008" cy="96012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45336" y="171907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User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45336" y="2121408"/>
            <a:ext cx="43708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64748B"/>
                </a:solidFill>
                <a:latin typeface="Aptos"/>
              </a:defRPr>
            </a:pPr>
            <a:r>
              <a:t>Create account with email verification.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1600200"/>
            <a:ext cx="493776" cy="493776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1572768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76288" y="1572768"/>
            <a:ext cx="64008" cy="9601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7455" y="171907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User 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7455" y="2121408"/>
            <a:ext cx="43708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64748B"/>
                </a:solidFill>
                <a:latin typeface="Aptos"/>
              </a:defRPr>
            </a:pPr>
            <a:r>
              <a:t>Secure Cognito authentication and session handling.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898648"/>
            <a:ext cx="493776" cy="49377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44168" y="2871216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44168" y="2871216"/>
            <a:ext cx="64008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45336" y="30175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My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5336" y="3419856"/>
            <a:ext cx="43708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64748B"/>
                </a:solidFill>
                <a:latin typeface="Aptos"/>
              </a:defRPr>
            </a:pPr>
            <a:r>
              <a:t>View and update permitted personal information.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898648"/>
            <a:ext cx="493776" cy="493776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76288" y="2871216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76288" y="2871216"/>
            <a:ext cx="64008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7455" y="30175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Admin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7455" y="3419856"/>
            <a:ext cx="43708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64748B"/>
                </a:solidFill>
                <a:latin typeface="Aptos"/>
              </a:defRPr>
            </a:pPr>
            <a:r>
              <a:t>View statistics and manage registered users.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4197096"/>
            <a:ext cx="493776" cy="49377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44168" y="4169663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44168" y="4169663"/>
            <a:ext cx="64008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45336" y="431596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RBAC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45336" y="4718303"/>
            <a:ext cx="43708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64748B"/>
                </a:solidFill>
                <a:latin typeface="Aptos"/>
              </a:defRPr>
            </a:pPr>
            <a:r>
              <a:t>Separate ADMIN and USER access at the API layer.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4197096"/>
            <a:ext cx="493776" cy="49377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76288" y="4169663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76288" y="4169663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77455" y="4315968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Logout &amp; Account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7455" y="4718303"/>
            <a:ext cx="43708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64748B"/>
                </a:solidFill>
                <a:latin typeface="Aptos"/>
              </a:defRPr>
            </a:pPr>
            <a:r>
              <a:t>End sessions and manage account status.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PROJECT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03A"/>
                </a:solidFill>
                <a:latin typeface="Aptos Display"/>
              </a:defRPr>
            </a:pPr>
            <a:r>
              <a:t>AWS Services &amp; Hosting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Actual services used in the delivered implementation.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0" y="658368"/>
            <a:ext cx="310896" cy="310896"/>
          </a:xfrm>
          <a:prstGeom prst="ellipse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572768"/>
            <a:ext cx="345643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572768"/>
            <a:ext cx="64008" cy="14447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719072"/>
            <a:ext cx="3090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Amazon Cognito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21408"/>
            <a:ext cx="3072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64748B"/>
                </a:solidFill>
                <a:latin typeface="Aptos"/>
              </a:defRPr>
            </a:pPr>
            <a:r>
              <a:t>Identity, email verification, password recovery, ADMIN / USER groups.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72768"/>
            <a:ext cx="345643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72768"/>
            <a:ext cx="64008" cy="1444752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719072"/>
            <a:ext cx="3090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121408"/>
            <a:ext cx="3072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64748B"/>
                </a:solidFill>
                <a:latin typeface="Aptos"/>
              </a:defRPr>
            </a:pPr>
            <a:r>
              <a:t>HTTP API with JWT authorizer for protected endpoints.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572768"/>
            <a:ext cx="345643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572768"/>
            <a:ext cx="64008" cy="1444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719072"/>
            <a:ext cx="3090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AWS Lambda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121408"/>
            <a:ext cx="3072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64748B"/>
                </a:solidFill>
                <a:latin typeface="Aptos"/>
              </a:defRPr>
            </a:pPr>
            <a:r>
              <a:t>Serverless user and admin management backend.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419856"/>
            <a:ext cx="345643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3419856"/>
            <a:ext cx="64008" cy="1444752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566160"/>
            <a:ext cx="3090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DynamoDB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968496"/>
            <a:ext cx="3072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64748B"/>
                </a:solidFill>
                <a:latin typeface="Aptos"/>
              </a:defRPr>
            </a:pPr>
            <a:r>
              <a:t>Application profile data and user records.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419856"/>
            <a:ext cx="345643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419856"/>
            <a:ext cx="64008" cy="14447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0288" y="3566160"/>
            <a:ext cx="3090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IAM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0288" y="3968496"/>
            <a:ext cx="3072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64748B"/>
                </a:solidFill>
                <a:latin typeface="Aptos"/>
              </a:defRPr>
            </a:pPr>
            <a:r>
              <a:t>Permissions for Lambda and AWS resource access.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3419856"/>
            <a:ext cx="345643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80" y="3419856"/>
            <a:ext cx="64008" cy="14447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5048" y="3566160"/>
            <a:ext cx="309067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203A"/>
                </a:solidFill>
                <a:latin typeface="Aptos"/>
              </a:defRPr>
            </a:pPr>
            <a:r>
              <a:t>CloudWatch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3968496"/>
            <a:ext cx="3072384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9">
                <a:solidFill>
                  <a:srgbClr val="64748B"/>
                </a:solidFill>
                <a:latin typeface="Aptos"/>
              </a:defRPr>
            </a:pPr>
            <a:r>
              <a:t>Lambda/API logs and operational monitoring.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5349240"/>
            <a:ext cx="160020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EA5A5"/>
                </a:solidFill>
                <a:latin typeface="Aptos"/>
              </a:defRPr>
            </a:pPr>
            <a:r>
              <a:t>FRONTEND: NETLIFY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78040" y="5349240"/>
            <a:ext cx="1600200" cy="310896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9E0B"/>
                </a:solidFill>
                <a:latin typeface="Aptos"/>
              </a:defRPr>
            </a:pPr>
            <a:r>
              <a:t>S3 BUCKET CREATED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03A"/>
                </a:solidFill>
                <a:latin typeface="Aptos Display"/>
              </a:defRPr>
            </a:pPr>
            <a:r>
              <a:t>Security &amp; Role-Based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Backend authorization is the source of truth — not the frontend.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0" y="658368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5204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45920"/>
            <a:ext cx="64008" cy="342900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9222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203A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94560"/>
            <a:ext cx="313639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• Normal profile access</a:t>
            </a:r>
            <a:br/>
            <a:r>
              <a:t>• No administrator operations</a:t>
            </a:r>
            <a:br/>
            <a:r>
              <a:t>• API rejects unauthorized admin requests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45920"/>
            <a:ext cx="35204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64008" cy="3429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79222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203A"/>
                </a:solidFill>
                <a:latin typeface="Aptos"/>
              </a:defRPr>
            </a:pPr>
            <a: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94560"/>
            <a:ext cx="313639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• User directory &amp; statistics</a:t>
            </a:r>
            <a:br/>
            <a:r>
              <a:t>• Create users</a:t>
            </a:r>
            <a:br/>
            <a:r>
              <a:t>• Enable / disable accounts</a:t>
            </a:r>
            <a:br/>
            <a:r>
              <a:t>• Protected admin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645920"/>
            <a:ext cx="35204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645920"/>
            <a:ext cx="64008" cy="3429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792224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203A"/>
                </a:solidFill>
                <a:latin typeface="Aptos"/>
              </a:defRPr>
            </a:pPr>
            <a:r>
              <a:t>PROTECTION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194560"/>
            <a:ext cx="3136392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• Cognito groups</a:t>
            </a:r>
            <a:br/>
            <a:r>
              <a:t>• API Gateway JWT authorizer</a:t>
            </a:r>
            <a:br/>
            <a:r>
              <a:t>• Lambda `requireAdmin`</a:t>
            </a:r>
            <a:br/>
            <a:r>
              <a:t>• Last-active-admin safeguards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5349240"/>
            <a:ext cx="68580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63EB"/>
                </a:solidFill>
                <a:latin typeface="Aptos"/>
              </a:defRPr>
            </a:pPr>
            <a:r>
              <a:t>JWT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5349240"/>
            <a:ext cx="1371600" cy="310896"/>
          </a:xfrm>
          <a:prstGeom prst="roundRect">
            <a:avLst/>
          </a:prstGeom>
          <a:solidFill>
            <a:srgbClr val="F5F3FF"/>
          </a:solidFill>
          <a:ln>
            <a:solidFill>
              <a:srgbClr val="F5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7C3AED"/>
                </a:solidFill>
                <a:latin typeface="Aptos"/>
              </a:defRPr>
            </a:pPr>
            <a:r>
              <a:t>COGNITO GROUPS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5349240"/>
            <a:ext cx="1463040" cy="310896"/>
          </a:xfrm>
          <a:prstGeom prst="roundRect">
            <a:avLst/>
          </a:prstGeom>
          <a:solidFill>
            <a:srgbClr val="FEF2F2"/>
          </a:solidFill>
          <a:ln>
            <a:solidFill>
              <a:srgbClr val="FE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C2626"/>
                </a:solidFill>
                <a:latin typeface="Aptos"/>
              </a:defRPr>
            </a:pPr>
            <a:r>
              <a:t>FORBIDDEN CHECK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502920"/>
            <a:ext cx="1143000" cy="310896"/>
          </a:xfrm>
          <a:prstGeom prst="roundRect">
            <a:avLst/>
          </a:prstGeom>
          <a:solidFill>
            <a:srgbClr val="1E3152"/>
          </a:solidFill>
          <a:ln>
            <a:solidFill>
              <a:srgbClr val="1E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  <a:latin typeface="Aptos"/>
              </a:defRPr>
            </a:pPr>
            <a:r>
              <a:t>LIVE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LIVE PROJECT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ptos"/>
              </a:defRPr>
            </a:pPr>
            <a:r>
              <a:t>Public React frontend • Ready for client demonstration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6812280" cy="1097280"/>
          </a:xfrm>
          <a:prstGeom prst="roundRect">
            <a:avLst/>
          </a:prstGeom>
          <a:solidFill>
            <a:srgbClr val="182B48"/>
          </a:solidFill>
          <a:ln>
            <a:solidFill>
              <a:srgbClr val="36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32888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6B6D4"/>
                </a:solidFill>
                <a:latin typeface="Aptos"/>
              </a:defRPr>
            </a:pPr>
            <a:r>
              <a:rPr>
                <a:hlinkClick r:id="rId2"/>
              </a:rPr>
              <a:t>https://awsusermanagement.netlify.app/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94760"/>
            <a:ext cx="6812280" cy="1691640"/>
          </a:xfrm>
          <a:prstGeom prst="roundRect">
            <a:avLst/>
          </a:prstGeom>
          <a:solidFill>
            <a:srgbClr val="182B48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794760"/>
            <a:ext cx="64008" cy="169164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941064"/>
            <a:ext cx="6446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03A"/>
                </a:solidFill>
                <a:latin typeface="Aptos"/>
              </a:defRPr>
            </a:pPr>
            <a:r>
              <a:t>DEMO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343400"/>
            <a:ext cx="6428232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✓ Login / email verification</a:t>
            </a:r>
            <a:br/>
            <a:r>
              <a:t>✓ My Profile → ADMIN role</a:t>
            </a:r>
            <a:br/>
            <a:r>
              <a:t>✓ Admin Console → users &amp; status management</a:t>
            </a:r>
            <a:br/>
            <a:r>
              <a:t>✓ Logout and USER access restriction</a:t>
            </a:r>
          </a:p>
        </p:txBody>
      </p:sp>
      <p:pic>
        <p:nvPicPr>
          <p:cNvPr id="12" name="Picture 11" descr="awsusermanagement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783080"/>
            <a:ext cx="2331720" cy="2331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229600" y="1554480"/>
            <a:ext cx="2788920" cy="2880360"/>
          </a:xfrm>
          <a:prstGeom prst="roundRect">
            <a:avLst/>
          </a:prstGeom>
          <a:noFill/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wsusermanagement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783080"/>
            <a:ext cx="2331720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60" y="4553712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  <a:latin typeface="Aptos"/>
              </a:defRPr>
            </a:pPr>
            <a:r>
              <a:t>SCAN TO OPEN LIVE PORTAL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LIVE OUTPUT • PUBLIC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03A"/>
                </a:solidFill>
                <a:latin typeface="Aptos Display"/>
              </a:defRPr>
            </a:pPr>
            <a:r>
              <a:t>Expected Outcomes —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Requirements mapped to the final working solution.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0" y="658368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32461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72768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1907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203A"/>
                </a:solidFill>
                <a:latin typeface="Aptos"/>
              </a:defRPr>
            </a:pPr>
            <a:r>
              <a:t>Registration / Login / Logout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7" y="1664208"/>
            <a:ext cx="77724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6A34A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572768"/>
            <a:ext cx="626364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4920" y="1572768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6088" y="1719072"/>
            <a:ext cx="5897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203A"/>
                </a:solidFill>
                <a:latin typeface="Aptos"/>
              </a:defRPr>
            </a:pPr>
            <a:r>
              <a:t>Cognito + email verification + session 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212848"/>
            <a:ext cx="32461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212848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35915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203A"/>
                </a:solidFill>
                <a:latin typeface="Aptos"/>
              </a:defRPr>
            </a:pPr>
            <a:r>
              <a:t>Profile view / update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33087" y="2304288"/>
            <a:ext cx="77724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6A34A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74920" y="2212848"/>
            <a:ext cx="626364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2212848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6088" y="2359152"/>
            <a:ext cx="5897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203A"/>
                </a:solidFill>
                <a:latin typeface="Aptos"/>
              </a:defRPr>
            </a:pPr>
            <a:r>
              <a:t>My Profile with editable name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852928"/>
            <a:ext cx="32461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2852928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299923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203A"/>
                </a:solidFill>
                <a:latin typeface="Aptos"/>
              </a:defRPr>
            </a:pPr>
            <a:r>
              <a:t>Admin user management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33087" y="2944368"/>
            <a:ext cx="77724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6A34A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2852928"/>
            <a:ext cx="626364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74920" y="2852928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6088" y="2999232"/>
            <a:ext cx="5897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203A"/>
                </a:solidFill>
                <a:latin typeface="Aptos"/>
              </a:defRPr>
            </a:pPr>
            <a:r>
              <a:t>Create, view, enable / disable, statistics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3493007"/>
            <a:ext cx="32461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493007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3639311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203A"/>
                </a:solidFill>
                <a:latin typeface="Aptos"/>
              </a:defRPr>
            </a:pPr>
            <a:r>
              <a:t>RBAC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33087" y="3584447"/>
            <a:ext cx="77724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6A34A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3493007"/>
            <a:ext cx="626364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74920" y="3493007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76088" y="3639311"/>
            <a:ext cx="5897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203A"/>
                </a:solidFill>
                <a:latin typeface="Aptos"/>
              </a:defRPr>
            </a:pPr>
            <a:r>
              <a:t>Cognito groups + JWT authorizer + backend checks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133087"/>
            <a:ext cx="32461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4133087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" y="427939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203A"/>
                </a:solidFill>
                <a:latin typeface="Aptos"/>
              </a:defRPr>
            </a:pPr>
            <a:r>
              <a:t>Password recovery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33087" y="4224527"/>
            <a:ext cx="77724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6A34A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74920" y="4133087"/>
            <a:ext cx="626364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74920" y="4133087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76088" y="4279392"/>
            <a:ext cx="5897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203A"/>
                </a:solidFill>
                <a:latin typeface="Aptos"/>
              </a:defRPr>
            </a:pPr>
            <a:r>
              <a:t>Forgot-password flow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4773168"/>
            <a:ext cx="32461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4773168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" y="4919472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203A"/>
                </a:solidFill>
                <a:latin typeface="Aptos"/>
              </a:defRPr>
            </a:pPr>
            <a:r>
              <a:t>Serverless backend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33087" y="4864607"/>
            <a:ext cx="77724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6A34A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74920" y="4773168"/>
            <a:ext cx="626364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74920" y="4773168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76088" y="4919472"/>
            <a:ext cx="5897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203A"/>
                </a:solidFill>
                <a:latin typeface="Aptos"/>
              </a:defRPr>
            </a:pPr>
            <a:r>
              <a:t>API Gateway + Lambda + DynamoDB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5413247"/>
            <a:ext cx="32461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5800" y="5413247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" y="5559551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203A"/>
                </a:solidFill>
                <a:latin typeface="Aptos"/>
              </a:defRPr>
            </a:pPr>
            <a:r>
              <a:t>Frontend delivery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33087" y="5504687"/>
            <a:ext cx="77724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6A34A"/>
                </a:solidFill>
                <a:latin typeface="Aptos"/>
              </a:defRPr>
            </a:pPr>
            <a:r>
              <a:t>DONE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74920" y="5413247"/>
            <a:ext cx="626364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074920" y="5413247"/>
            <a:ext cx="64008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76088" y="5559551"/>
            <a:ext cx="5897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203A"/>
                </a:solidFill>
                <a:latin typeface="Aptos"/>
              </a:defRPr>
            </a:pPr>
            <a:r>
              <a:t>React/Vite build published on Netlify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PROJECT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03A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Optional improvements beyond the current delivered scope.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0" y="65836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64008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37944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03A"/>
                </a:solidFill>
                <a:latin typeface="Aptos"/>
              </a:defRPr>
            </a:pPr>
            <a:r>
              <a:t>Advanced role-management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240280"/>
            <a:ext cx="473659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Expose the existing role-management capability directly in the Admin Console.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9164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64008" cy="141732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837944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03A"/>
                </a:solidFill>
                <a:latin typeface="Aptos"/>
              </a:defRPr>
            </a:pPr>
            <a:r>
              <a:t>Activity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240280"/>
            <a:ext cx="473659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Add audit trails, login history and security alerts.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64008" cy="141732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712463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03A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114800"/>
            <a:ext cx="473659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Automated email notifications for important account events.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56616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56616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712463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203A"/>
                </a:solidFill>
                <a:latin typeface="Aptos"/>
              </a:defRPr>
            </a:pPr>
            <a:r>
              <a:t>Hosting 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114800"/>
            <a:ext cx="4736592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CloudFront/S3 frontend delivery when AWS account verification permits.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5532120"/>
            <a:ext cx="960120" cy="310896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9E0B"/>
                </a:solidFill>
                <a:latin typeface="Aptos"/>
              </a:defRPr>
            </a:pPr>
            <a:r>
              <a:t>OPTIONAL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5943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4748B"/>
                </a:solidFill>
                <a:latin typeface="Aptos"/>
              </a:defRPr>
            </a:pPr>
            <a:r>
              <a:t>USER MANAGEMENT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203A"/>
                </a:solidFill>
                <a:latin typeface="Aptos Display"/>
              </a:defRPr>
            </a:pPr>
            <a:r>
              <a:t>Conclusion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ptos"/>
              </a:defRPr>
            </a:pPr>
            <a:r>
              <a:t>Final delivery summary.</a:t>
            </a:r>
          </a:p>
        </p:txBody>
      </p:sp>
      <p:sp>
        <p:nvSpPr>
          <p:cNvPr id="7" name="Oval 6"/>
          <p:cNvSpPr/>
          <p:nvPr/>
        </p:nvSpPr>
        <p:spPr>
          <a:xfrm>
            <a:off x="11201400" y="658368"/>
            <a:ext cx="310896" cy="310896"/>
          </a:xfrm>
          <a:prstGeom prst="ellipse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6675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64008" cy="338328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46504"/>
            <a:ext cx="63093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203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6291072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ptos"/>
              </a:defRPr>
            </a:pPr>
            <a:r>
              <a:t>The User Management Portal demonstrates a practical AWS-based approach to secure user authentication, role-based authorization, profile management and administration.</a:t>
            </a:r>
            <a:br/>
            <a:br/>
            <a:r>
              <a:t>The delivered system combines managed identity, serverless APIs, cloud database storage, permissions and monitoring, with the React frontend publicly available through Netlify.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600200"/>
            <a:ext cx="3749039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1600200"/>
            <a:ext cx="64008" cy="3383280"/>
          </a:xfrm>
          <a:prstGeom prst="rect">
            <a:avLst/>
          </a:prstGeom>
          <a:solidFill>
            <a:srgbClr val="23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1746504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03A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2148840"/>
            <a:ext cx="3364991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• AWS service documentation</a:t>
            </a:r>
            <a:br/>
            <a:r>
              <a:t>• Amazon Cognito</a:t>
            </a:r>
            <a:br/>
            <a:r>
              <a:t>• API Gateway</a:t>
            </a:r>
            <a:br/>
            <a:r>
              <a:t>• AWS Lambda</a:t>
            </a:r>
            <a:br/>
            <a:r>
              <a:t>• DynamoDB</a:t>
            </a:r>
            <a:br/>
            <a:r>
              <a:t>• IAM</a:t>
            </a:r>
            <a:br/>
            <a:r>
              <a:t>• CloudWatch</a:t>
            </a:r>
            <a:br/>
            <a:r>
              <a:t>• Netlify deployment documentation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257800"/>
            <a:ext cx="1417320" cy="310896"/>
          </a:xfrm>
          <a:prstGeom prst="roundRect">
            <a:avLst/>
          </a:prstGeom>
          <a:solidFill>
            <a:srgbClr val="F0FDFA"/>
          </a:solidFill>
          <a:ln>
            <a:solidFill>
              <a:srgbClr val="F0F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EA5A5"/>
                </a:solidFill>
                <a:latin typeface="Aptos"/>
              </a:defRPr>
            </a:pPr>
            <a:r>
              <a:t>FINAL DELIVERY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5257800"/>
            <a:ext cx="1600200" cy="310896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63EB"/>
                </a:solidFill>
                <a:latin typeface="Aptos"/>
              </a:defRPr>
            </a:pPr>
            <a:r>
              <a:t>CLIENT DEMO READY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30352"/>
            <a:ext cx="1051560" cy="310896"/>
          </a:xfrm>
          <a:prstGeom prst="roundRect">
            <a:avLst/>
          </a:prstGeom>
          <a:solidFill>
            <a:srgbClr val="1E3152"/>
          </a:solidFill>
          <a:ln>
            <a:solidFill>
              <a:srgbClr val="1E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t>USER MANAGEMENT</a:t>
            </a:r>
            <a:br/>
            <a:r>
              <a:t>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Aptos"/>
              </a:defRPr>
            </a:pPr>
            <a:r>
              <a:t>Final client demonstration • Public live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703320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ptos"/>
              </a:defRPr>
            </a:pPr>
            <a:r>
              <a:rPr>
                <a:hlinkClick r:id="rId2"/>
              </a:rPr>
              <a:t>https://awsusermanagement.netlify.app/</a:t>
            </a:r>
          </a:p>
        </p:txBody>
      </p:sp>
      <p:pic>
        <p:nvPicPr>
          <p:cNvPr id="7" name="Picture 6" descr="awsusermanagement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417320"/>
            <a:ext cx="2468880" cy="2468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549640" y="4160520"/>
            <a:ext cx="2468880" cy="310896"/>
          </a:xfrm>
          <a:prstGeom prst="roundRect">
            <a:avLst/>
          </a:prstGeom>
          <a:solidFill>
            <a:srgbClr val="1E3152"/>
          </a:solidFill>
          <a:ln>
            <a:solidFill>
              <a:srgbClr val="1E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B6D4"/>
                </a:solidFill>
                <a:latin typeface="Aptos"/>
              </a:defRPr>
            </a:pPr>
            <a:r>
              <a:t>SCAN • OPEN •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754880"/>
            <a:ext cx="2926080" cy="310896"/>
          </a:xfrm>
          <a:prstGeom prst="roundRect">
            <a:avLst/>
          </a:prstGeom>
          <a:solidFill>
            <a:srgbClr val="1E3152"/>
          </a:solidFill>
          <a:ln>
            <a:solidFill>
              <a:srgbClr val="1E3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A5F3FC"/>
                </a:solidFill>
                <a:latin typeface="Aptos"/>
              </a:defRPr>
            </a:pPr>
            <a:r>
              <a:t>AWS • COGNITO • LAMBDA • DYNAMODB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547104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64748B"/>
                </a:solidFill>
                <a:latin typeface="Aptos"/>
              </a:defRPr>
            </a:pPr>
            <a:r>
              <a:t>FINAL CLIENT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967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